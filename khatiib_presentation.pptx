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62B24"/>
          </a:solidFill>
          <a:ln>
            <a:solidFill>
              <a:srgbClr val="1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5242255" cy="457200"/>
          </a:xfrm>
          <a:prstGeom prst="roundRect">
            <a:avLst/>
          </a:prstGeom>
          <a:solidFill>
            <a:srgbClr val="0A382F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5A880"/>
                </a:solidFill>
                <a:latin typeface="Cairo"/>
              </a:defRPr>
            </a:pPr>
            <a:r>
              <a:t>تحدي الذكاء الاصطناعي في خدمة المحتوى الإسلامي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5340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5F7F6"/>
                </a:solidFill>
                <a:latin typeface="Cairo"/>
              </a:defRPr>
            </a:pPr>
            <a:r>
              <a:t>مَنَصَّة خَطِيب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3E6D2"/>
                </a:solidFill>
                <a:latin typeface="Cairo"/>
              </a:defRPr>
            </a:pPr>
            <a:r>
              <a:t>ورشة الذكاء الاصطناعي التوليدي لصياغة الخطب المنبرية</a:t>
            </a:r>
            <a:br/>
            <a:r>
              <a:t>بضوابط شرعية وبلاغة أصيلة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C5A880"/>
                </a:solidFill>
                <a:latin typeface="Cairo"/>
              </a:defRPr>
            </a:pPr>
            <a:r>
              <a:t>« أمانة الكلمة .. وعصرية التقنية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4632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0B9B2"/>
                </a:solidFill>
                <a:latin typeface="Cairo"/>
              </a:defRPr>
            </a:pPr>
            <a:r>
              <a:t>مسار توليد وإثراء المحتوى الإسلامي الرصين · الإصدار التجريبي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المشكلة والواقع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ثقل أمانة المنبر وتحديات إعداد الخطبة في عصر السرعة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383280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A2E2B"/>
                </a:solidFill>
                <a:latin typeface="Cairo"/>
              </a:defRPr>
            </a:pPr>
            <a:r>
              <a:t>رهبة الصفحة البيضاء وصعوبة التجديد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526E67"/>
                </a:solidFill>
                <a:latin typeface="Cairo"/>
              </a:defRPr>
            </a:pPr>
            <a:r>
              <a:t>يواجه خطيب الجمعة أسبوعياً معضلة البدء من الصفر لاختيار موضوع يلامس هموم المصلين الحقيقية، مما يدفع الكثيرين للاستنساخ الحرفي للخطب القديمة أو الوقوع في التكرار النمطي.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383280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A2E2B"/>
                </a:solidFill>
                <a:latin typeface="Cairo"/>
              </a:defRPr>
            </a:pPr>
            <a:r>
              <a:t>استنزاف 4 إلى 6 ساعات في البحث والتحضير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526E67"/>
                </a:solidFill>
                <a:latin typeface="Cairo"/>
              </a:defRPr>
            </a:pPr>
            <a:r>
              <a:t>يقضي الخطيب ساعات طويلة ومجهدة أسبوعياً بين جمع الشواهد، وتخريج الأحاديث، وتنسيق الأفكار، مما يثقل كاهله ويقلل من وقت التفرغ للحفظ والاستحضار والاتصال الروحي بالمصلين.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B43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A2E2B"/>
                </a:solidFill>
                <a:latin typeface="Cairo"/>
              </a:defRPr>
            </a:pPr>
            <a:r>
              <a:t>تشتت المصادر وضعف التوثيق الحديثي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747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526E67"/>
                </a:solidFill>
                <a:latin typeface="Cairo"/>
              </a:defRPr>
            </a:pPr>
            <a:r>
              <a:t>فوضى المراجع بين مواقع الإنترنت، والكتب غير المحققة، ومخاطر الوقوع في إيراد أحاديث ضعيفة أو قصص موضوعة متداولة لا تصح نسبتها إلى النبي 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الفجوة والقصور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لماذا تفشل نماذج الذكاء الاصطناعي العامة على المنبر؟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92840" y="1645920"/>
            <a:ext cx="73152" cy="640080"/>
          </a:xfrm>
          <a:prstGeom prst="rect">
            <a:avLst/>
          </a:prstGeom>
          <a:solidFill>
            <a:srgbClr val="B43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2E2B"/>
                </a:solidFill>
                <a:latin typeface="Cairo"/>
              </a:defRPr>
            </a:pPr>
            <a:r>
              <a:t>⚠️  الهلوسة الشرعية ونسبة الأحاديث الضعيفة</a:t>
            </a:r>
          </a:p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النماذج العامة تبتدع متوناً غير صحيحة، أو تنسب أحاديث موضوعة أو مكذوبة إلى كتب الصحاح دون أي حياء علمي، والمنبر لا يحتمل الخطأ الشرعي.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92840" y="2788920"/>
            <a:ext cx="73152" cy="640080"/>
          </a:xfrm>
          <a:prstGeom prst="rect">
            <a:avLst/>
          </a:prstGeom>
          <a:solidFill>
            <a:srgbClr val="B43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2E2B"/>
                </a:solidFill>
                <a:latin typeface="Cairo"/>
              </a:defRPr>
            </a:pPr>
            <a:r>
              <a:t>⚠️  الركاكة والأسلوب الصحفي المترجم</a:t>
            </a:r>
          </a:p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تعتمد النماذج لغة مترجمة مليئة بالكليشيهات الباردة مثل: 'يلعب دوراً رئيسياً'، 'يسلط الضوء'، 'في هذا العصر'، وهي لغة هزيلة تفقد المنبر جلاله وهيبته.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292840" y="3931920"/>
            <a:ext cx="73152" cy="640080"/>
          </a:xfrm>
          <a:prstGeom prst="rect">
            <a:avLst/>
          </a:prstGeom>
          <a:solidFill>
            <a:srgbClr val="B43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8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2E2B"/>
                </a:solidFill>
                <a:latin typeface="Cairo"/>
              </a:defRPr>
            </a:pPr>
            <a:r>
              <a:t>⚠️  انعدام مراعاة أزمنة وهيكل الخطبة المنبرية</a:t>
            </a:r>
          </a:p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تولد نصوصاً إنشائية هلامية بلا ضوابط زمنية، ولا تفرق بين خطبة أولى، واستراحة، وخطبة ثانية، وخاتمة بالدعاء المأثور.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92840" y="5074920"/>
            <a:ext cx="73152" cy="640080"/>
          </a:xfrm>
          <a:prstGeom prst="rect">
            <a:avLst/>
          </a:prstGeom>
          <a:solidFill>
            <a:srgbClr val="B43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01768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2E2B"/>
                </a:solidFill>
                <a:latin typeface="Cairo"/>
              </a:defRPr>
            </a:pPr>
            <a:r>
              <a:t>⚠️  انتهاك سرية الأفكار والمسودات المنبرية</a:t>
            </a:r>
          </a:p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المنصات العامة ترفع أفكار الخطباء على خوادمها لتدريب نماذجها، مما يقلق الإمام حيال خصوصية أفكاره المنبرية قبل إلقائها.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الحل المبتكر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منصة خطيب: ورشة عمل ذكية تمكّن الخطيب ولا تستبدله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0E4D40"/>
                </a:solidFill>
                <a:latin typeface="Cairo"/>
              </a:defRPr>
            </a:pPr>
            <a:r>
              <a:t>« المنصة أداة مساعدة لكسر جمود الصفحة البيضاء، وليست بديلاً عن بصيرة الخطيب وفقهه لواقع جماعته 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7744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44200" y="2560320"/>
            <a:ext cx="457200" cy="45720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E4D40"/>
                </a:solidFill>
                <a:latin typeface="Cairo"/>
              </a:defRPr>
            </a:pPr>
            <a:r>
              <a:t>ورشة صياغة تفاعلية موجَّهة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مسار مدروس خطوة بخطوة يمنع التشتت ويحول الفكرة العابرة إلى هيكل متماسك، مع تحديد دقيق للجمهور والنبرة ومحاور الخطبة.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2560320"/>
            <a:ext cx="457200" cy="45720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E4D40"/>
                </a:solidFill>
                <a:latin typeface="Cairo"/>
              </a:defRPr>
            </a:pPr>
            <a:r>
              <a:t>محرك التحقق الحديثي الصارم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تكامل مباشر مع محركات التخريج مثل (Hdith.com)، وحظر تام لإيراد الأحاديث الضعيفة أو الموضوعة لضمان أمانة المنبر.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9768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44200" y="4480560"/>
            <a:ext cx="457200" cy="45720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E4D40"/>
                </a:solidFill>
                <a:latin typeface="Cairo"/>
              </a:defRPr>
            </a:pPr>
            <a:r>
              <a:t>طبقة التنقية والتعريب البلاغي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خوارزمية حصرية (Humanizer) تنقي المسودة آلياً من كليشيهات الذكاء الاصطناعي وتصيغها ببيان عربي فصيح يليق بقدسية المنبر.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03520" y="4480560"/>
            <a:ext cx="457200" cy="45720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E4D40"/>
                </a:solidFill>
                <a:latin typeface="Cairo"/>
              </a:defRPr>
            </a:pPr>
            <a:r>
              <a:t>الخصوصية الكاملة والتصدير الفوري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تخزين محلي آمن في متصفح الخطيب دون إرسال مسوداته لأي خوادم خارجية، مع تصدير مباشر إلى ملف Word (docx) جاهز للقراءة.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مسار الورشة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رحلة إعداد الخطبة: من الفكرة العابرة إلى المسودة في 5 خطوات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22408" y="192024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3768" y="2743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E2B"/>
                </a:solidFill>
                <a:latin typeface="Cairo"/>
              </a:defRPr>
            </a:pPr>
            <a:r>
              <a:t>تحديد النوع والموضوع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3768" y="3749039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526E67"/>
                </a:solidFill>
                <a:latin typeface="Cairo"/>
              </a:defRPr>
            </a:pPr>
            <a:r>
              <a:t>اختيار القالب (خطبة جمعة / كلمة موعظية / درس) وكتابة موضوع الخطبة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46136" y="192024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2743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E2B"/>
                </a:solidFill>
                <a:latin typeface="Cairo"/>
              </a:defRPr>
            </a:pPr>
            <a:r>
              <a:t>تخصيص الجمهور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3749039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526E67"/>
                </a:solidFill>
                <a:latin typeface="Cairo"/>
              </a:defRPr>
            </a:pPr>
            <a:r>
              <a:t>تحديد الفئة: عامة المصلين، الشباب، أهل الحي، الناشئة لمطابقة لغة الخطاب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9864" y="192024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743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E2B"/>
                </a:solidFill>
                <a:latin typeface="Cairo"/>
              </a:defRPr>
            </a:pPr>
            <a:r>
              <a:t>ضبط النبرة والمدة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749039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526E67"/>
                </a:solidFill>
                <a:latin typeface="Cairo"/>
              </a:defRPr>
            </a:pPr>
            <a:r>
              <a:t>اختيار النبرة (وعظي مؤثر، علمي، علاجي) وتحديد زمن الإلقاء (15-25 دقيقة)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93592" y="1920240"/>
            <a:ext cx="640080" cy="640080"/>
          </a:xfrm>
          <a:prstGeom prst="ellipse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4D40"/>
                </a:solidFill>
                <a:latin typeface="Cairo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4952" y="2743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E2B"/>
                </a:solidFill>
                <a:latin typeface="Cairo"/>
              </a:defRPr>
            </a:pPr>
            <a:r>
              <a:t>هندسة المحاور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4952" y="3749039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526E67"/>
                </a:solidFill>
                <a:latin typeface="Cairo"/>
              </a:defRPr>
            </a:pPr>
            <a:r>
              <a:t>بناء محاور الخطبة وتوزيع الأفكار بموازنة منهجية بين الترغيب والترهيب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17320" y="1920240"/>
            <a:ext cx="640080" cy="640080"/>
          </a:xfrm>
          <a:prstGeom prst="ellipse">
            <a:avLst/>
          </a:prstGeom>
          <a:solidFill>
            <a:srgbClr val="0E4D40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6"/>
                </a:solidFill>
                <a:latin typeface="Cairo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7432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2E2B"/>
                </a:solidFill>
                <a:latin typeface="Cairo"/>
              </a:defRPr>
            </a:pPr>
            <a:r>
              <a:t>التوليد والمراجعة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749039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526E67"/>
                </a:solidFill>
                <a:latin typeface="Cairo"/>
              </a:defRPr>
            </a:pPr>
            <a:r>
              <a:t>صياغة المسودة بالتوازي، فحص الأحاديث، وتصدير ملف Word جاهز للإلقاء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الابتكار التقني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الابتكار التقني: محرك التخريج والتعريب البلاغي التراثي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383280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50" b="1">
                <a:solidFill>
                  <a:srgbClr val="1A2E2B"/>
                </a:solidFill>
                <a:latin typeface="Cairo"/>
              </a:defRPr>
            </a:pPr>
            <a:r>
              <a:t>محرك التخريج والتحقق الحديثي</a:t>
            </a:r>
          </a:p>
          <a:p>
            <a:pPr algn="r">
              <a:defRPr sz="1000">
                <a:solidFill>
                  <a:srgbClr val="C5A880"/>
                </a:solidFill>
                <a:latin typeface="Segoe UI"/>
              </a:defRPr>
            </a:pPr>
            <a:r>
              <a:t>Takhrij &amp; Grounding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526E67"/>
                </a:solidFill>
                <a:latin typeface="Cairo"/>
              </a:defRPr>
            </a:pPr>
            <a:r>
              <a:t>توجيه قطعي للنماذج بحظر الأحاديث الضعيفة أو الموضوعة، مع ربط مخصص بـ (Hdith Proxy API) للبحث في صحة الرواية وعزوها مباشرة لراويها ومخرجها.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383280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50" b="1">
                <a:solidFill>
                  <a:srgbClr val="1A2E2B"/>
                </a:solidFill>
                <a:latin typeface="Cairo"/>
              </a:defRPr>
            </a:pPr>
            <a:r>
              <a:t>منقي الأسلوب التراثي العربي</a:t>
            </a:r>
          </a:p>
          <a:p>
            <a:pPr algn="r">
              <a:defRPr sz="1000">
                <a:solidFill>
                  <a:srgbClr val="C5A880"/>
                </a:solidFill>
                <a:latin typeface="Segoe UI"/>
              </a:defRPr>
            </a:pPr>
            <a:r>
              <a:t>Classical Arabic Humanizer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526E67"/>
                </a:solidFill>
                <a:latin typeface="Cairo"/>
              </a:defRPr>
            </a:pPr>
            <a:r>
              <a:t>خوارزمية معالجة لاحقة (Post-processing) تستبدل الكليشيهات الحديثة والمترجمة بألفاظ عربية فصيحة (كالاستعاضة عن 'يسلط الضوء' بـ 'يجلو المعنى'، وعن 'يلعب دوراً' بـ 'كان له أثرٌ').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50" b="1">
                <a:solidFill>
                  <a:srgbClr val="1A2E2B"/>
                </a:solidFill>
                <a:latin typeface="Cairo"/>
              </a:defRPr>
            </a:pPr>
            <a:r>
              <a:t>التوليد المتوازي للمحاور</a:t>
            </a:r>
          </a:p>
          <a:p>
            <a:pPr algn="r">
              <a:defRPr sz="1000">
                <a:solidFill>
                  <a:srgbClr val="C5A880"/>
                </a:solidFill>
                <a:latin typeface="Segoe UI"/>
              </a:defRPr>
            </a:pPr>
            <a:r>
              <a:t>Concurrent Section 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526E67"/>
                </a:solidFill>
                <a:latin typeface="Cairo"/>
              </a:defRPr>
            </a:pPr>
            <a:r>
              <a:t>بنية توليد متزامنة تقسم الخطبة إلى محاور متوازية، مما يقلص زمن التوليد من دقيقتين إلى أقل من 20 ثانية مع الحفاظ على حساب دقيق لسرعة الإلقاء وعدد الكلمات.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المعمارية التقنية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المعمارية التقنية: سرعة فائقة وحوسبة حافة متقدمة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4D40"/>
                </a:solidFill>
                <a:latin typeface="Cairo"/>
              </a:defRPr>
            </a:pPr>
            <a:r>
              <a:t>الواجهة وتجربة المستخدم  |  React 19 + TanStack Router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واجهة أمامية فائقة السلاسة مبنية بمكتبة Radix UI و Tailwind CSS v4، متوافقة بالكامل مع الأجهزة اللوحية والمحمولة، مع دعم كامل للوضع الليلي ومواقيت الصلاة الحية.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4D40"/>
                </a:solidFill>
                <a:latin typeface="Cairo"/>
              </a:defRPr>
            </a:pPr>
            <a:r>
              <a:t>نماذج الذكاء الاصطناعي  |  Google Gemini &amp; OpenRouter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تنسيق متقدم مع Gemini 2.5 Flash / Pro و Gemini 3.5، مع نظام Fallback ذكي ومتعدد المستويات يضمن استمرارية الخدمة بنسبة 99.9% في أصعب أوقات الذروة أسبوعياً.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4D40"/>
                </a:solidFill>
                <a:latin typeface="Cairo"/>
              </a:defRPr>
            </a:pPr>
            <a:r>
              <a:t>الحوسبة الطرفية السريعة  |  Cloudflare Workers &amp; Pages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خوادم طرفية موزعة حول العالم عبر شبكة Cloudflare لتقديم استجابة فورية وحماية تامة لمفاتيح الواجهات البرمجية وتشفير الاتصال.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709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E4D40"/>
                </a:solidFill>
                <a:latin typeface="Cairo"/>
              </a:defRPr>
            </a:pPr>
            <a:r>
              <a:t>الخصوصية والتخزين المحلي  |  IndexedDB Client Storage</a:t>
            </a:r>
          </a:p>
          <a:p>
            <a:pPr algn="r">
              <a:defRPr sz="1100">
                <a:solidFill>
                  <a:srgbClr val="526E67"/>
                </a:solidFill>
                <a:latin typeface="Cairo"/>
              </a:defRPr>
            </a:pPr>
            <a:r>
              <a:t>تخزين مسودات الخطب محلياً بالكامل على متصفح الخطيب دون إرسالها إلى قواعد بيانات سحابية مركزية، حمايةً لقدسية مسودات الإمام وأفكاره قبل المنبر.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الأثر والنتائج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قياس الأثر: نقلة نوعية في كفاءة وموثوقية الخطاب المنبري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920240"/>
            <a:ext cx="2057400" cy="109728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4D40"/>
                </a:solidFill>
                <a:latin typeface="Cairo"/>
              </a:defRPr>
            </a:pPr>
            <a: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A2E2B"/>
                </a:solidFill>
                <a:latin typeface="Cairo"/>
              </a:defRPr>
            </a:pPr>
            <a:r>
              <a:t>توفير في وقت التحضير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26E67"/>
                </a:solidFill>
                <a:latin typeface="Cairo"/>
              </a:defRPr>
            </a:pPr>
            <a:r>
              <a:t>تقليص زمن إعداد مسودة الخطبة من 4 ساعات إلى أقل من 15 دقيقة، ليتفرغ الخطيب للحفظ والمدارسة.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94176" y="1920240"/>
            <a:ext cx="2057400" cy="109728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4D40"/>
                </a:solidFill>
                <a:latin typeface="Cairo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2004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A2E2B"/>
                </a:solidFill>
                <a:latin typeface="Cairo"/>
              </a:defRPr>
            </a:pPr>
            <a:r>
              <a:t>دقة الشواهد الحديثية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402336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26E67"/>
                </a:solidFill>
                <a:latin typeface="Cairo"/>
              </a:defRPr>
            </a:pPr>
            <a:r>
              <a:t>صفر أحاديث موضوعة أو مجهولة بفضل الحظر الصارم والربط بمحركات التحقق الحديثي المعتمدة.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2" y="1920240"/>
            <a:ext cx="2057400" cy="109728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4D40"/>
                </a:solidFill>
                <a:latin typeface="Cairo"/>
              </a:defRPr>
            </a:pPr>
            <a:r>
              <a:t>20 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2004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A2E2B"/>
                </a:solidFill>
                <a:latin typeface="Cairo"/>
              </a:defRPr>
            </a:pPr>
            <a:r>
              <a:t>زمن التوليد الكامل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02336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26E67"/>
                </a:solidFill>
                <a:latin typeface="Cairo"/>
              </a:defRPr>
            </a:pPr>
            <a:r>
              <a:t>سرعة استجابة مذهلة في صياغة المحاور والمقدمة والخاتمة بفضل المعمارية المتوازية للذكاء الاصطناعي.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1645920"/>
            <a:ext cx="2514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2288" y="1920240"/>
            <a:ext cx="2057400" cy="1097280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E4D40"/>
                </a:solidFill>
                <a:latin typeface="Cairo"/>
              </a:defRPr>
            </a:pPr>
            <a:r>
              <a:t>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2004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A2E2B"/>
                </a:solidFill>
                <a:latin typeface="Cairo"/>
              </a:defRPr>
            </a:pPr>
            <a:r>
              <a:t>جاهزية الطباعة الفورية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402336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26E67"/>
                </a:solidFill>
                <a:latin typeface="Cairo"/>
              </a:defRPr>
            </a:pPr>
            <a:r>
              <a:t>تصدير فوري لملف Word بهوامش عريضة وخطوط مشكولة وواضحة مخصصة للقراءة على المنبر.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920240" cy="384048"/>
          </a:xfrm>
          <a:prstGeom prst="roundRect">
            <a:avLst/>
          </a:prstGeom>
          <a:solidFill>
            <a:srgbClr val="E8F3E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4D40"/>
                </a:solidFill>
                <a:latin typeface="Cairo"/>
              </a:defRPr>
            </a:pPr>
            <a:r>
              <a:t>خارطة الطريق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E4D40"/>
                </a:solidFill>
                <a:latin typeface="Cairo"/>
              </a:defRPr>
            </a:pPr>
            <a:r>
              <a:t>خارطة الطريق: التوسع المستقبلي في خدمة الدعوة والمنبر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728655" cy="18288"/>
          </a:xfrm>
          <a:prstGeom prst="rect">
            <a:avLst/>
          </a:prstGeom>
          <a:solidFill>
            <a:srgbClr val="DC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526E67"/>
                </a:solidFill>
                <a:latin typeface="Cairo"/>
              </a:defRPr>
            </a:pPr>
            <a:r>
              <a:t>منصة خطيب · تحدي الذكاء الاصطناعي في خدمة المحتوى الإسلامي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383280" cy="73152"/>
          </a:xfrm>
          <a:prstGeom prst="rect">
            <a:avLst/>
          </a:prstGeom>
          <a:solidFill>
            <a:srgbClr val="0E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E4D40"/>
                </a:solidFill>
                <a:latin typeface="Cairo"/>
              </a:defRPr>
            </a:pPr>
            <a:r>
              <a:t>المرحلة الأولى (الحالية)</a:t>
            </a:r>
          </a:p>
          <a:p>
            <a:pPr algn="r">
              <a:defRPr sz="1100">
                <a:solidFill>
                  <a:srgbClr val="C5A880"/>
                </a:solidFill>
                <a:latin typeface="Cairo"/>
              </a:defRPr>
            </a:pPr>
            <a:r>
              <a:t>الورشة الأساسية وتخريج الأحاديث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✓ إطلاق ورشة صياغة المسودة بـ 5 خطوات</a:t>
            </a:r>
            <a:br/>
            <a:r>
              <a:t>✓ محرك الفرز الحديثي وربط Hdith API</a:t>
            </a:r>
            <a:br/>
            <a:r>
              <a:t>✓ طبقة التعريب البلاغي (Humanizer)</a:t>
            </a:r>
            <a:br/>
            <a:r>
              <a:t>✓ تصدير مستندات Word جاهزة للإلقاء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383280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2E2B"/>
                </a:solidFill>
                <a:latin typeface="Cairo"/>
              </a:defRPr>
            </a:pPr>
            <a:r>
              <a:t>المرحلة الثانية (القادمة)</a:t>
            </a:r>
          </a:p>
          <a:p>
            <a:pPr algn="r">
              <a:defRPr sz="1100">
                <a:solidFill>
                  <a:srgbClr val="C5A880"/>
                </a:solidFill>
                <a:latin typeface="Cairo"/>
              </a:defRPr>
            </a:pPr>
            <a:r>
              <a:t>محرك RAG للتراث الفقهي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• ربط أمهات كتب التفسير وموسوعات الفقه</a:t>
            </a:r>
            <a:br/>
            <a:r>
              <a:t>• مكتبة استشهاد بآثار الصحابة والتابعين</a:t>
            </a:r>
            <a:br/>
            <a:r>
              <a:t>• حسابات خطباء سحابية مشفرة بالكامل</a:t>
            </a:r>
            <a:br/>
            <a:r>
              <a:t>• أرشيف ذكي لربط الخطب بالمناسبات السنوية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383280" cy="73152"/>
          </a:xfrm>
          <a:prstGeom prst="rect">
            <a:avLst/>
          </a:prstGeom>
          <a:solidFill>
            <a:srgbClr val="1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2E2B"/>
                </a:solidFill>
                <a:latin typeface="Cairo"/>
              </a:defRPr>
            </a:pPr>
            <a:r>
              <a:t>المرحلة الثالثة (المستقبلية)</a:t>
            </a:r>
          </a:p>
          <a:p>
            <a:pPr algn="r">
              <a:defRPr sz="1100">
                <a:solidFill>
                  <a:srgbClr val="C5A880"/>
                </a:solidFill>
                <a:latin typeface="Cairo"/>
              </a:defRPr>
            </a:pPr>
            <a:r>
              <a:t>المدرب الصوتي وتطبيق المنبر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50">
                <a:solidFill>
                  <a:srgbClr val="526E67"/>
                </a:solidFill>
                <a:latin typeface="Cairo"/>
              </a:defRPr>
            </a:pPr>
            <a:r>
              <a:t>• تحليل نبرة وسرعة الإلقاء وتدريب الخطيب صوتياً</a:t>
            </a:r>
            <a:br/>
            <a:r>
              <a:t>• تطبيق لوحي مخصص للمنبر (Teleprompter)</a:t>
            </a:r>
            <a:br/>
            <a:r>
              <a:t>• نمط الإلقاء المباشر مع ضبط التمرير بالعين</a:t>
            </a:r>
            <a:br/>
            <a:r>
              <a:t>• إحصائيات تفاعل واستيعاب المصلين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62B24"/>
          </a:solidFill>
          <a:ln>
            <a:solidFill>
              <a:srgbClr val="1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5A880"/>
                </a:solidFill>
                <a:latin typeface="Cairo"/>
              </a:defRPr>
            </a:pPr>
            <a:r>
              <a:t>﴿ وَمَنْ أَحْسَنُ قَوْلًا مِّمَّن دَعَا إِلَى اللَّهِ وَعَمِلَ صَالِحًا وَقَالَ إِنَّنِي مِنَ الْمُسْلِمِينَ 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5176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F7F6"/>
                </a:solidFill>
                <a:latin typeface="Cairo"/>
              </a:defRPr>
            </a:pPr>
            <a:r>
              <a:t>معاً لتمكين خطيب الجمعة ليُنير دروب المجتمع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A3E6D2"/>
                </a:solidFill>
                <a:latin typeface="Cairo"/>
              </a:defRPr>
            </a:pPr>
            <a:r>
              <a:t>«منصة خطيب» تسخر أحدث تقنيات الذكاء الاصطناعي لحفظ هيبة المنبر النبوي، وصيانة الكلمة الدعوية من الدخيل والضعيف، وتقديم أداة مساعدة تحفظ وقت الإمام وترتقي بأثره في الناس.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846320"/>
            <a:ext cx="3962095" cy="594360"/>
          </a:xfrm>
          <a:prstGeom prst="roundRect">
            <a:avLst/>
          </a:prstGeom>
          <a:solidFill>
            <a:srgbClr val="0E4D4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6"/>
                </a:solidFill>
                <a:latin typeface="Cairo"/>
              </a:defRPr>
            </a:pPr>
            <a:r>
              <a:t>شكراً لكم · نسعد بتقييمكم وملاحظاتكم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